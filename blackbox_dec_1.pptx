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1. Experimental Methodology &amp; Multi-Scale Test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32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Methodology (Controlled Perturbation Design):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Conducted 8 experimental protocols (54 states) from Step 1 to Step 6001.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Tested micro-steps (n = 1, 10), meso-steps (n = 100, 200, 250, 500), and macro-jumps (n = 1000, 3000, 5050).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Executed Revert branching tests from identical Step 1 seeds.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Empirical Findings: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Single steps (n = 1) alter only 2 to 5 cells board-wide (~1 update/region).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Clicking Revert + Next n Step with identical n (n = 1 or 1000) produces divergent trajectories (Branch A vs. Branch B).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Daytime (Oct 2) and nighttime (Oct 7) runs follow identical rules.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Reasoning &amp; Conclusion: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Revert restores X(t) without resetting the random seed: the system is an asynchronous, non-seeded stochastic automaton.</a:t>
            </a:r>
          </a:p>
        </p:txBody>
      </p:sp>
      <p:pic>
        <p:nvPicPr>
          <p:cNvPr id="4" name="Picture 3" descr="slide1_revert_bran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05840"/>
            <a:ext cx="5806440" cy="31864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2. Spatial Architecture: Four Symmetric 100-Cell L-Regions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32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Methodology (Differential Turnover Auditing):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Mapped cell-by-cell turnover across Step 2102 -&gt; 3102 -&gt; 4102 and Step 4001 -&gt; 4351 rather than single-frame color inspection.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Empirical Findings: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Step 3102 -&gt; 4102: 73/100 cells changed in Region 3, while 90/100 cells stayed frozen in Region 4.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Step 4001 -&gt; 4351 (n = 10x5, 100x3): 0 cells changed in Regions 1, 2, and 4 (including R11..15 C16..20 and R16..20 C6..10); 100% of turnover occurred inside Region 3.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Reasoning &amp; Conclusion: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The 20x20 grid is a 4x4 macro-grid of sixteen 5x5 sub-blocks (25 cells each), partitioned symmetrically into four 100-cell L-regions.</a:t>
            </a:r>
          </a:p>
        </p:txBody>
      </p:sp>
      <p:pic>
        <p:nvPicPr>
          <p:cNvPr id="4" name="Picture 3" descr="slide2_turnover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05840"/>
            <a:ext cx="5806440" cy="30739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3. Uneven Energy Dissipation &amp; Regional Heterogeneity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32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Methodology (Information &amp; Bond Metrics):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Tracked Shannon Entropy H(t) and orthogonal same-digit neighbor bonds B(t) across Step 1 to Step 4102.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Empirical Findings: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Step 1: All 4 regions start at maximal heterogeneity (H = 3.23-3.28 bits) and random bonding (B = 14-17 bonds).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By Step 2102-4102: Region 2 drops to H = 0.00 bits (B = 160); Region 1 locks at H = 0.66 bits (B = 108); Region 3 plateaus at H = 1.85 bits; Region 4 preserves H = 3.12 bits while B rises to 92.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Reasoning &amp; Conclusion: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Energy dissipates unevenly: Regions 1 &amp; 2 freeze into low-entropy attractors, Region 3 stays a thermal bath, and Region 4 minimizes interfacial energy while conserving all 10 digits.</a:t>
            </a:r>
          </a:p>
        </p:txBody>
      </p:sp>
      <p:pic>
        <p:nvPicPr>
          <p:cNvPr id="4" name="Picture 3" descr="slide3_entropy_and_bo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05840"/>
            <a:ext cx="5806440" cy="47999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4. Regions 1 &amp; 2: Bidirectional Counting &amp; 5x5 Motifs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32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Methodology (Single-Cell Trajectory Tracking):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Traced single-cell transitions across n = 1, 10 steps (Step 1-&gt;13) and post-equilibrium jumps (Step 3001-&gt;6001).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Empirical Findings: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Region 1 Target 4 (Count-Up): Cells with X &lt; 4 increment +1 (0-&gt;1-&gt;2-&gt;3-&gt;4); X &gt; 4 resets to 0 first.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Region 1 Target 5 (Countdown): Cells jump to 9 and count down (9-&gt;8-&gt;7-&gt;6-&gt;5) into 5x5 Game-of-Life Glider and Toroidal-Corner templates paired by checkerboard parity (br + bc) mod 2.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Region 2 Sink: Non-zero cells snap or step down monotonically to 0.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Reasoning &amp; Conclusion: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Region 1 cells do not cluster by neighbor attraction; their target (4 or 5) is fixed by their local (lr, lc) coordinate in their 5x5 sub-block.</a:t>
            </a:r>
          </a:p>
        </p:txBody>
      </p:sp>
      <p:pic>
        <p:nvPicPr>
          <p:cNvPr id="4" name="Picture 3" descr="slide4_region1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05840"/>
            <a:ext cx="5806440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5. Regions 3 &amp; 4: Markov Bath vs. Kawasaki Mass Conservation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32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Methodology (Complete Regional Census):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Audited exact 100-cell digit histograms in Regions 3 and 4 from Step 1 to Step 1001 (Exp 8) and Step 3001 to 6001 (Exp 6).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Empirical Findings: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Region 3 Bath: Resamples ~6.2 cells per 10 steps into 35.8% 0, 36.9% 1, 14.5% 2 (87.2% in {0,1,2}).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Region 4 Mass Invariance: In Exp 8, Step 1 digit counts in Region 4 (0:7, 1:10, 2:10, 3:15, 4:14, 5:9, 6:11, 7:8, 8:9, 9:7) are 100% identical at Step 1001 (Branches A &amp; B).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Reasoning &amp; Conclusion: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Global 0 majority (~38%) comes from Region 2 (100% 0) and Region 3 (36% 0), not overwriting. Region 4 is a 100% closed Kawasaki swap subspace where clusters grow via Ostwald ripening.</a:t>
            </a:r>
          </a:p>
        </p:txBody>
      </p:sp>
      <p:pic>
        <p:nvPicPr>
          <p:cNvPr id="4" name="Picture 3" descr="slide5_mass_cons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05840"/>
            <a:ext cx="5806440" cy="47368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6. Path Divergence (N != 1 x N): Quenching vs. Annealing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32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Methodology (Split-Path &amp; Threshold Sweep):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Compared 1x1000 vs. 5x200 and 10x100 from identical Step 1 seeds; swept n = 10 to 1000 from Step 3001.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Empirical Findings: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Small Steps Freeze Faster: At Step 1001, Region 1 is 94%-95% settled under 10x100 and 5x200 vs. 80%-89% under 1x1000. Region 4 freezes by Step 501 under 10x100 but traps local islands.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Unfreezing Threshold (n &gt;= 250): At equilibrium, n &lt;= 100 causes 0 swaps in Region 4, whereas n = 250 unbinds 1-bond cells and n = 1000 coalesces each digit into a single crystal.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Reasoning &amp; Conclusion: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Clicking 'Next n Step' supplies an energy pulse E_pulse(n) that expands swap radius R(n): small n rapidly quenches, while large n anneals.</a:t>
            </a:r>
          </a:p>
        </p:txBody>
      </p:sp>
      <p:pic>
        <p:nvPicPr>
          <p:cNvPr id="4" name="Picture 3" descr="slide6_path_di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05840"/>
            <a:ext cx="5806440" cy="43902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7. Synthesis: 4-Level Nested Hypergraph &amp; Systemhood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60120"/>
            <a:ext cx="5532120" cy="557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Methodology (Multi-Scale Systems Synthesis):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Integrated micro (1x1), local (3x3), meso (5x5), and macro (100-cell) rules into a 4-level hypergraph H = (V, E1 U E2 U E3 U E4).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Multi-Scale Hypergraph Hierarchy: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Level 1 (|e1| = 1, Single Cell): Intrinsic 1D counter (+1 / -1).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Level 2 (|e2| = 5, Von Neumann Neighborhood): Individual mobility (0 bonds) vs. collective crystal locking (&gt;= 2 bonds) in Region 4.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Level 3 (|e3| = 25, 5x5 Sub-Block): Enforces 5x5 binary Glider/Corner templates in Region 1.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Level 4 (|e4| = 100, L-Region): Assigns regional physics law and checkerboard block pairing.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600" b="1">
                <a:solidFill>
                  <a:srgbClr val="B42828"/>
                </a:solidFill>
              </a:defRPr>
            </a:pPr>
            <a:r>
              <a:t>Conclusion (Systemhood):</a:t>
            </a:r>
          </a:p>
          <a:p>
            <a:pPr>
              <a:spcAft>
                <a:spcPts val="300"/>
              </a:spcAft>
              <a:defRPr sz="1450">
                <a:solidFill>
                  <a:srgbClr val="141414"/>
                </a:solidFill>
              </a:defRPr>
            </a:pPr>
            <a:r>
              <a:t>• Cell behavior emerges via downward causation across all 4 spatial scales plus user energy input n.</a:t>
            </a:r>
          </a:p>
        </p:txBody>
      </p:sp>
      <p:pic>
        <p:nvPicPr>
          <p:cNvPr id="4" name="Picture 3" descr="slide7_hypergraph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05840"/>
            <a:ext cx="5806440" cy="4584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